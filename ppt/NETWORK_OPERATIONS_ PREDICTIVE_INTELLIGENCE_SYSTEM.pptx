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6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09-14T05:57:25.182"/>
    <p1510:client id="{94FEF3FC-FDEB-7040-9FAD-9093B17B7AE0}" v="518" dt="2026-09-14T14:07:28.028"/>
    <p1510:client id="{9A01106D-85FB-F63E-C9AF-F527FEA9F56A}" v="3" dt="2026-09-15T19:00:14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2E411-0C82-4A5C-AD79-D9877559A0DC}" type="datetimeFigureOut"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9D943-0501-42F8-B814-629647A413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66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298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560963-1EEA-4BDE-8FF9-3FEE13B5D43C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335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298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021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74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224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1545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646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7D881E9-FF16-48A7-B8AA-A17AAAEAD6E1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97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568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BDF39F2-6977-4B14-98E3-4DFE82804B0D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20731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8281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674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D6F66A7C-2450-4D43-AEC7-53AFAE9E8A03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099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BC323F5-F813-45BA-B261-A7C41DB03AE5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056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44216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29171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1403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3786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4383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80305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32861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8093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008647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4839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5067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9/16/2026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0829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886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FigureOut">
              <a:rPr lang="en-US" dirty="0"/>
              <a:pPr/>
              <a:t>9/16/2026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943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  <p:sldLayoutId id="2147483864" r:id="rId18"/>
    <p:sldLayoutId id="2147483865" r:id="rId19"/>
    <p:sldLayoutId id="2147483866" r:id="rId20"/>
    <p:sldLayoutId id="2147483867" r:id="rId21"/>
    <p:sldLayoutId id="2147483868" r:id="rId22"/>
    <p:sldLayoutId id="2147483869" r:id="rId23"/>
    <p:sldLayoutId id="2147483870" r:id="rId24"/>
    <p:sldLayoutId id="2147483871" r:id="rId25"/>
    <p:sldLayoutId id="2147483872" r:id="rId26"/>
    <p:sldLayoutId id="2147483873" r:id="rId27"/>
    <p:sldLayoutId id="2147483874" r:id="rId28"/>
    <p:sldLayoutId id="2147483875" r:id="rId29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9D98A"/>
          </a:solidFill>
          <a:ln w="1016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77824"/>
            <a:ext cx="22860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00" b="1">
                <a:solidFill>
                  <a:srgbClr val="5C6D7E"/>
                </a:solidFill>
                <a:latin typeface="Consolas"/>
              </a:rPr>
              <a:t>NETWORK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10058400" cy="54168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400" b="1" dirty="0">
                <a:solidFill>
                  <a:srgbClr val="E7EDF3"/>
                </a:solidFill>
                <a:latin typeface="Aptos"/>
              </a:rPr>
              <a:t>Telecom Network Analytics</a:t>
            </a:r>
            <a:endParaRPr lang="en-US" dirty="0">
              <a:solidFill>
                <a:srgbClr val="E7EDF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2487168"/>
            <a:ext cx="9875520" cy="31085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00" b="0" dirty="0">
                <a:solidFill>
                  <a:srgbClr val="8B9DB1"/>
                </a:solidFill>
                <a:latin typeface="Aptos"/>
              </a:rPr>
              <a:t>From raw mobile activity to an operational intelligence control room.</a:t>
            </a:r>
            <a:endParaRPr lang="en-US" dirty="0">
              <a:solidFill>
                <a:srgbClr val="8B9DB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3337560"/>
            <a:ext cx="1325880" cy="274320"/>
          </a:xfrm>
          <a:prstGeom prst="roundRect">
            <a:avLst/>
          </a:prstGeom>
          <a:solidFill>
            <a:srgbClr val="0F2F25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3258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39D98A"/>
                </a:solidFill>
                <a:latin typeface="Consolas"/>
              </a:rPr>
              <a:t>DATA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3337560"/>
            <a:ext cx="82296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57400" y="3374136"/>
            <a:ext cx="82296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4F8CFF"/>
                </a:solidFill>
                <a:latin typeface="Consolas"/>
              </a:rP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3337560"/>
            <a:ext cx="1005840" cy="274320"/>
          </a:xfrm>
          <a:prstGeom prst="roundRect">
            <a:avLst/>
          </a:prstGeom>
          <a:solidFill>
            <a:srgbClr val="0F2F25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9232" y="3374136"/>
            <a:ext cx="100584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39D98A"/>
                </a:solidFill>
                <a:latin typeface="Consolas"/>
              </a:rPr>
              <a:t>REACT NOC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1376" y="3337560"/>
            <a:ext cx="13258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51376" y="3374136"/>
            <a:ext cx="13258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F0B35B"/>
                </a:solidFill>
                <a:latin typeface="Consolas"/>
              </a:rPr>
              <a:t>MACHINE LEARNING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3337560"/>
            <a:ext cx="105156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23560" y="3374136"/>
            <a:ext cx="105156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CLAUDE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640080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00" b="1" dirty="0">
                <a:solidFill>
                  <a:srgbClr val="E7EDF3"/>
                </a:solidFill>
                <a:latin typeface="Aptos"/>
              </a:rPr>
              <a:t>Customer / Team Lead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7223760" cy="20313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0" dirty="0">
                <a:solidFill>
                  <a:srgbClr val="8B9DB1"/>
                </a:solidFill>
                <a:latin typeface="Aptos"/>
              </a:rPr>
              <a:t>A production-minded analytics journey with operational visibility, predictive risk and explainable evidence.</a:t>
            </a:r>
            <a:endParaRPr lang="en-US" dirty="0">
              <a:solidFill>
                <a:srgbClr val="8B9DB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458200" y="1371600"/>
            <a:ext cx="2926080" cy="42519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32520" y="1664208"/>
            <a:ext cx="164592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20" b="1">
                <a:solidFill>
                  <a:srgbClr val="5C6D7E"/>
                </a:solidFill>
                <a:latin typeface="Consolas"/>
              </a:rPr>
              <a:t>ACTIVITY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883664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NETWORK VIEW</a:t>
            </a:r>
          </a:p>
        </p:txBody>
      </p:sp>
      <p:sp>
        <p:nvSpPr>
          <p:cNvPr id="22" name="Oval 21"/>
          <p:cNvSpPr/>
          <p:nvPr/>
        </p:nvSpPr>
        <p:spPr>
          <a:xfrm>
            <a:off x="10835640" y="1737360"/>
            <a:ext cx="146304" cy="146304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32520" y="2532888"/>
            <a:ext cx="164592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20" b="1">
                <a:solidFill>
                  <a:srgbClr val="5C6D7E"/>
                </a:solidFill>
                <a:latin typeface="Consolas"/>
              </a:rPr>
              <a:t>GRID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752344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10,000</a:t>
            </a:r>
          </a:p>
        </p:txBody>
      </p:sp>
      <p:sp>
        <p:nvSpPr>
          <p:cNvPr id="25" name="Oval 24"/>
          <p:cNvSpPr/>
          <p:nvPr/>
        </p:nvSpPr>
        <p:spPr>
          <a:xfrm>
            <a:off x="10835640" y="2606040"/>
            <a:ext cx="146304" cy="146304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32520" y="3401568"/>
            <a:ext cx="164592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20" b="1">
                <a:solidFill>
                  <a:srgbClr val="5C6D7E"/>
                </a:solidFill>
                <a:latin typeface="Consolas"/>
              </a:rPr>
              <a:t>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621024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OPERATIONAL</a:t>
            </a:r>
          </a:p>
        </p:txBody>
      </p:sp>
      <p:sp>
        <p:nvSpPr>
          <p:cNvPr id="28" name="Oval 27"/>
          <p:cNvSpPr/>
          <p:nvPr/>
        </p:nvSpPr>
        <p:spPr>
          <a:xfrm>
            <a:off x="10835640" y="3474720"/>
            <a:ext cx="146304" cy="146304"/>
          </a:xfrm>
          <a:prstGeom prst="ellipse">
            <a:avLst/>
          </a:prstGeom>
          <a:solidFill>
            <a:srgbClr val="F0B35B"/>
          </a:solidFill>
          <a:ln>
            <a:solidFill>
              <a:srgbClr val="F0B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4270248"/>
            <a:ext cx="164592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20" b="1">
                <a:solidFill>
                  <a:srgbClr val="5C6D7E"/>
                </a:solidFill>
                <a:latin typeface="Consolas"/>
              </a:rPr>
              <a:t>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489704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PREDICTIVE</a:t>
            </a:r>
          </a:p>
        </p:txBody>
      </p:sp>
      <p:sp>
        <p:nvSpPr>
          <p:cNvPr id="31" name="Oval 30"/>
          <p:cNvSpPr/>
          <p:nvPr/>
        </p:nvSpPr>
        <p:spPr>
          <a:xfrm>
            <a:off x="10835640" y="4343400"/>
            <a:ext cx="146304" cy="146304"/>
          </a:xfrm>
          <a:prstGeom prst="ellipse">
            <a:avLst/>
          </a:prstGeom>
          <a:solidFill>
            <a:srgbClr val="FF6B72"/>
          </a:solidFill>
          <a:ln>
            <a:solidFill>
              <a:srgbClr val="FF6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01 /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7893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dirty="0">
                <a:solidFill>
                  <a:srgbClr val="E7EDF3"/>
                </a:solidFill>
                <a:latin typeface="Aptos"/>
              </a:rPr>
              <a:t>What the platform delivers</a:t>
            </a:r>
            <a:endParaRPr lang="en-US" dirty="0">
              <a:solidFill>
                <a:srgbClr val="E7EDF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1908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0">
                <a:solidFill>
                  <a:srgbClr val="8B9DB1"/>
                </a:solidFill>
                <a:latin typeface="Aptos"/>
              </a:rPr>
              <a:t>A single operational view from network activity to prioritized investigation.</a:t>
            </a:r>
            <a:endParaRPr lang="en-US">
              <a:solidFill>
                <a:srgbClr val="8B9DB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514600" cy="169164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8952" y="1947672"/>
            <a:ext cx="347472" cy="347472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66543"/>
            <a:ext cx="109728" cy="109728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404872"/>
            <a:ext cx="218541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19" b="1">
                <a:solidFill>
                  <a:srgbClr val="8B9DB1"/>
                </a:solidFill>
                <a:latin typeface="Consolas"/>
              </a:rPr>
              <a:t>NETWORK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679191"/>
            <a:ext cx="2185416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300" b="1">
                <a:solidFill>
                  <a:srgbClr val="E7EDF3"/>
                </a:solidFill>
                <a:latin typeface="Aptos"/>
              </a:rPr>
              <a:t>10,000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118104"/>
            <a:ext cx="2185416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30" b="0">
                <a:solidFill>
                  <a:srgbClr val="8B9DB1"/>
                </a:solidFill>
                <a:latin typeface="Aptos"/>
              </a:rPr>
              <a:t>Milan grid cells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1783080"/>
            <a:ext cx="2514600" cy="169164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38144" y="1947672"/>
            <a:ext cx="347472" cy="347472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57016" y="2066543"/>
            <a:ext cx="109728" cy="109728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38144" y="2404872"/>
            <a:ext cx="218541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19" b="1">
                <a:solidFill>
                  <a:srgbClr val="8B9DB1"/>
                </a:solidFill>
                <a:latin typeface="Consolas"/>
              </a:rPr>
              <a:t>OPERATIONAL 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2679191"/>
            <a:ext cx="2185416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300" b="1">
                <a:solidFill>
                  <a:srgbClr val="E7EDF3"/>
                </a:solidFill>
                <a:latin typeface="Aptos"/>
              </a:rPr>
              <a:t>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3118104"/>
            <a:ext cx="2185416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30" b="0">
                <a:solidFill>
                  <a:srgbClr val="8B9DB1"/>
                </a:solidFill>
                <a:latin typeface="Aptos"/>
              </a:rPr>
              <a:t>Overview, grids, hotspots, alerts,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52744" y="1783080"/>
            <a:ext cx="2514600" cy="169164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17336" y="1947672"/>
            <a:ext cx="347472" cy="347472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36207" y="2066543"/>
            <a:ext cx="109728" cy="109728"/>
          </a:xfrm>
          <a:prstGeom prst="ellipse">
            <a:avLst/>
          </a:prstGeom>
          <a:solidFill>
            <a:srgbClr val="F0B35B"/>
          </a:solidFill>
          <a:ln>
            <a:solidFill>
              <a:srgbClr val="F0B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17336" y="2404872"/>
            <a:ext cx="218541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19" b="1">
                <a:solidFill>
                  <a:srgbClr val="8B9DB1"/>
                </a:solidFill>
                <a:latin typeface="Consolas"/>
              </a:rPr>
              <a:t>DECISION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7336" y="2679191"/>
            <a:ext cx="2185416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300" b="1">
                <a:solidFill>
                  <a:srgbClr val="E7EDF3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7336" y="3118104"/>
            <a:ext cx="2185416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30" b="0">
                <a:solidFill>
                  <a:srgbClr val="8B9DB1"/>
                </a:solidFill>
                <a:latin typeface="Aptos"/>
              </a:rPr>
              <a:t>Rules, anomaly baseline, ML risk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31936" y="1783080"/>
            <a:ext cx="2514600" cy="169164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796528" y="1947672"/>
            <a:ext cx="347472" cy="347472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915400" y="2066543"/>
            <a:ext cx="109728" cy="109728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96528" y="2404872"/>
            <a:ext cx="218541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19" b="1">
                <a:solidFill>
                  <a:srgbClr val="8B9DB1"/>
                </a:solidFill>
                <a:latin typeface="Consolas"/>
              </a:rPr>
              <a:t>AI-READY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2679191"/>
            <a:ext cx="2185416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300" b="1">
                <a:solidFill>
                  <a:srgbClr val="E7EDF3"/>
                </a:solidFill>
                <a:latin typeface="Aptos"/>
              </a:rPr>
              <a:t>Claude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6528" y="3118104"/>
            <a:ext cx="2185416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30" b="0">
                <a:solidFill>
                  <a:srgbClr val="8B9DB1"/>
                </a:solidFill>
                <a:latin typeface="Aptos"/>
              </a:rPr>
              <a:t>Evidence-grounded assistant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3886200"/>
            <a:ext cx="25603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CUSTOMER 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187952"/>
            <a:ext cx="5120640" cy="110030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1" dirty="0">
                <a:solidFill>
                  <a:srgbClr val="39D98A"/>
                </a:solidFill>
                <a:latin typeface="Aptos"/>
              </a:rPr>
              <a:t>▸ </a:t>
            </a:r>
            <a:r>
              <a:rPr sz="1200" dirty="0">
                <a:solidFill>
                  <a:srgbClr val="E7EDF3"/>
                </a:solidFill>
                <a:latin typeface="Aptos"/>
              </a:rPr>
              <a:t>Move from raw activity tables to an operator-friendly control room.</a:t>
            </a:r>
            <a:endParaRPr lang="en-US">
              <a:solidFill>
                <a:srgbClr val="E7EDF3"/>
              </a:solidFill>
            </a:endParaRP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39D98A"/>
                </a:solidFill>
                <a:latin typeface="Aptos"/>
              </a:rPr>
              <a:t>▸ </a:t>
            </a:r>
            <a:r>
              <a:rPr sz="1200" dirty="0">
                <a:solidFill>
                  <a:srgbClr val="E7EDF3"/>
                </a:solidFill>
                <a:latin typeface="Aptos"/>
              </a:rPr>
              <a:t>Identify where activity is unusual and why it deserves attention.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39D98A"/>
                </a:solidFill>
                <a:latin typeface="Aptos"/>
              </a:rPr>
              <a:t>▸ </a:t>
            </a:r>
            <a:r>
              <a:rPr sz="1200" dirty="0">
                <a:solidFill>
                  <a:srgbClr val="E7EDF3"/>
                </a:solidFill>
                <a:latin typeface="Aptos"/>
              </a:rPr>
              <a:t>Connect spatial context, historical behavior and predictive risk.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39D98A"/>
                </a:solidFill>
                <a:latin typeface="Aptos"/>
              </a:rPr>
              <a:t>▸ </a:t>
            </a:r>
            <a:r>
              <a:rPr sz="1200" dirty="0">
                <a:solidFill>
                  <a:srgbClr val="E7EDF3"/>
                </a:solidFill>
                <a:latin typeface="Aptos"/>
              </a:rPr>
              <a:t>Keep data quality visible before decisions are made.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886200"/>
            <a:ext cx="25603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ENGINEERING 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4187952"/>
            <a:ext cx="5257800" cy="110030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39D98A"/>
                </a:solidFill>
                <a:latin typeface="Aptos"/>
              </a:rPr>
              <a:t>▸ </a:t>
            </a:r>
            <a:r>
              <a:rPr sz="1200">
                <a:solidFill>
                  <a:srgbClr val="E7EDF3"/>
                </a:solidFill>
                <a:latin typeface="Aptos"/>
              </a:rPr>
              <a:t>Layered architecture with clear responsibility boundaries.</a:t>
            </a:r>
            <a:endParaRPr lang="en-US">
              <a:solidFill>
                <a:srgbClr val="E7EDF3"/>
              </a:solidFill>
            </a:endParaRP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39D98A"/>
                </a:solidFill>
                <a:latin typeface="Aptos"/>
              </a:rPr>
              <a:t>▸ </a:t>
            </a:r>
            <a:r>
              <a:rPr sz="1200" dirty="0">
                <a:solidFill>
                  <a:srgbClr val="E7EDF3"/>
                </a:solidFill>
                <a:latin typeface="Aptos"/>
              </a:rPr>
              <a:t>Reusable </a:t>
            </a:r>
            <a:r>
              <a:rPr sz="1200" dirty="0" err="1">
                <a:solidFill>
                  <a:srgbClr val="E7EDF3"/>
                </a:solidFill>
                <a:latin typeface="Aptos"/>
              </a:rPr>
              <a:t>FastAPI</a:t>
            </a:r>
            <a:r>
              <a:rPr sz="1200" dirty="0">
                <a:solidFill>
                  <a:srgbClr val="E7EDF3"/>
                </a:solidFill>
                <a:latin typeface="Aptos"/>
              </a:rPr>
              <a:t> contracts consumed by the React dashboard.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39D98A"/>
                </a:solidFill>
                <a:latin typeface="Aptos"/>
              </a:rPr>
              <a:t>▸ </a:t>
            </a:r>
            <a:r>
              <a:rPr sz="1200" dirty="0">
                <a:solidFill>
                  <a:srgbClr val="E7EDF3"/>
                </a:solidFill>
                <a:latin typeface="Aptos"/>
              </a:rPr>
              <a:t>Time-aware ML features and chronological validation.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39D98A"/>
                </a:solidFill>
                <a:latin typeface="Aptos"/>
              </a:rPr>
              <a:t>▸ </a:t>
            </a:r>
            <a:r>
              <a:rPr sz="1200" dirty="0">
                <a:solidFill>
                  <a:srgbClr val="E7EDF3"/>
                </a:solidFill>
                <a:latin typeface="Aptos"/>
              </a:rPr>
              <a:t>Designed for safe AI augmentation rather than AI replacing analytics.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02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7655" y="691065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The operational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Network teams have data — the challenge is turning it into a trustworthy next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03520" cy="43434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48056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FF6B72"/>
                </a:solidFill>
                <a:latin typeface="Consolas"/>
              </a:rPr>
              <a:t>WITHOUT AN INTEGRATED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20" b="1">
                <a:solidFill>
                  <a:srgbClr val="FF6B72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Large hourly activity datasets are difficult to scan manually.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FF6B72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A high value does not automatically mean an operational incident.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FF6B72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Historical context is needed to distinguish recurring peaks from deviations.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FF6B72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Predictive scores need network evidence around them.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FF6B72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If the pipeline is stale or unhealthy, downstream conclusions can mislead.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303520" cy="43434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48056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WITH NEXUS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2316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Start with current KPIs and a shared reporting timestamp.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Drill from a grid to hourly activity and spatial context.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Prioritize hotspots and operational alerts.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Assess future high-activity risk with an explainable baseline model.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Keep evidence, uncertainty and data health visible.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03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One system, built in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Compute, score and reasoning stay separated.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4672" y="4595949"/>
            <a:ext cx="10972800" cy="1298448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8784" y="4882421"/>
            <a:ext cx="18288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RESPONSIBILITY BOUNDARY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0" y="4879294"/>
            <a:ext cx="84124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00" b="1">
                <a:solidFill>
                  <a:srgbClr val="E7EDF3"/>
                </a:solidFill>
                <a:latin typeface="Aptos"/>
              </a:rPr>
              <a:t>Spark / SQL  compute and prepare evidence  •  ML  scores operational risk  •  Claude  reasons over curated evidence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0" y="5245925"/>
            <a:ext cx="8412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AI is never asked to reproduce the analytics stack or fabricate values.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  <p:sp>
        <p:nvSpPr>
          <p:cNvPr id="140" name="Shape 16">
            <a:extLst>
              <a:ext uri="{FF2B5EF4-FFF2-40B4-BE49-F238E27FC236}">
                <a16:creationId xmlns:a16="http://schemas.microsoft.com/office/drawing/2014/main" id="{7D003322-67AC-E296-0119-2EFFDF7D6B71}"/>
              </a:ext>
            </a:extLst>
          </p:cNvPr>
          <p:cNvSpPr/>
          <p:nvPr/>
        </p:nvSpPr>
        <p:spPr>
          <a:xfrm>
            <a:off x="502920" y="1691640"/>
            <a:ext cx="1378523" cy="2331720"/>
          </a:xfrm>
          <a:prstGeom prst="roundRect">
            <a:avLst>
              <a:gd name="adj" fmla="val 5307"/>
            </a:avLst>
          </a:prstGeom>
          <a:solidFill>
            <a:srgbClr val="DFF0E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42" name="Shape 17">
            <a:extLst>
              <a:ext uri="{FF2B5EF4-FFF2-40B4-BE49-F238E27FC236}">
                <a16:creationId xmlns:a16="http://schemas.microsoft.com/office/drawing/2014/main" id="{1BA6262C-9F77-C77A-A6F4-C74D9414316E}"/>
              </a:ext>
            </a:extLst>
          </p:cNvPr>
          <p:cNvSpPr/>
          <p:nvPr/>
        </p:nvSpPr>
        <p:spPr>
          <a:xfrm>
            <a:off x="936150" y="1837944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44" name="Image 0" descr="/home/claude/icons/cloud_0E7C86.png">
            <a:extLst>
              <a:ext uri="{FF2B5EF4-FFF2-40B4-BE49-F238E27FC236}">
                <a16:creationId xmlns:a16="http://schemas.microsoft.com/office/drawing/2014/main" id="{AC88887C-2879-15D8-1CB0-038F75A29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045" y="1960839"/>
            <a:ext cx="266273" cy="266273"/>
          </a:xfrm>
          <a:prstGeom prst="rect">
            <a:avLst/>
          </a:prstGeom>
        </p:spPr>
      </p:pic>
      <p:sp>
        <p:nvSpPr>
          <p:cNvPr id="146" name="Text 18">
            <a:extLst>
              <a:ext uri="{FF2B5EF4-FFF2-40B4-BE49-F238E27FC236}">
                <a16:creationId xmlns:a16="http://schemas.microsoft.com/office/drawing/2014/main" id="{88330966-D2EB-77F7-DF2F-894355C60FEF}"/>
              </a:ext>
            </a:extLst>
          </p:cNvPr>
          <p:cNvSpPr txBox="1"/>
          <p:nvPr/>
        </p:nvSpPr>
        <p:spPr>
          <a:xfrm>
            <a:off x="576072" y="2404872"/>
            <a:ext cx="123221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&amp; Raw Zone</a:t>
            </a:r>
            <a:endParaRPr lang="en-US" sz="1150" dirty="0"/>
          </a:p>
        </p:txBody>
      </p:sp>
      <p:sp>
        <p:nvSpPr>
          <p:cNvPr id="148" name="Text 19">
            <a:extLst>
              <a:ext uri="{FF2B5EF4-FFF2-40B4-BE49-F238E27FC236}">
                <a16:creationId xmlns:a16="http://schemas.microsoft.com/office/drawing/2014/main" id="{3CFA2BD9-A50C-E9D4-E723-32E1201BE431}"/>
              </a:ext>
            </a:extLst>
          </p:cNvPr>
          <p:cNvSpPr txBox="1"/>
          <p:nvPr/>
        </p:nvSpPr>
        <p:spPr>
          <a:xfrm>
            <a:off x="576072" y="2862072"/>
            <a:ext cx="123221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Milan activity CSVs + static grid GeoJSON reference</a:t>
            </a:r>
            <a:endParaRPr lang="en-US" sz="900" dirty="0"/>
          </a:p>
        </p:txBody>
      </p:sp>
      <p:sp>
        <p:nvSpPr>
          <p:cNvPr id="150" name="Shape 20">
            <a:extLst>
              <a:ext uri="{FF2B5EF4-FFF2-40B4-BE49-F238E27FC236}">
                <a16:creationId xmlns:a16="http://schemas.microsoft.com/office/drawing/2014/main" id="{2225F838-6B1E-C5FB-A6E9-579FAB496CE9}"/>
              </a:ext>
            </a:extLst>
          </p:cNvPr>
          <p:cNvSpPr/>
          <p:nvPr/>
        </p:nvSpPr>
        <p:spPr>
          <a:xfrm>
            <a:off x="1899731" y="2775204"/>
            <a:ext cx="219456" cy="164592"/>
          </a:xfrm>
          <a:prstGeom prst="rightArrow">
            <a:avLst/>
          </a:prstGeom>
          <a:solidFill>
            <a:srgbClr val="C7D0DE"/>
          </a:solidFill>
          <a:ln/>
        </p:spPr>
      </p:sp>
      <p:sp>
        <p:nvSpPr>
          <p:cNvPr id="152" name="Shape 21">
            <a:extLst>
              <a:ext uri="{FF2B5EF4-FFF2-40B4-BE49-F238E27FC236}">
                <a16:creationId xmlns:a16="http://schemas.microsoft.com/office/drawing/2014/main" id="{C58A518C-FE02-623A-1074-AF800A1BB1F1}"/>
              </a:ext>
            </a:extLst>
          </p:cNvPr>
          <p:cNvSpPr/>
          <p:nvPr/>
        </p:nvSpPr>
        <p:spPr>
          <a:xfrm>
            <a:off x="2137475" y="1691640"/>
            <a:ext cx="1378523" cy="2331720"/>
          </a:xfrm>
          <a:prstGeom prst="roundRect">
            <a:avLst>
              <a:gd name="adj" fmla="val 5307"/>
            </a:avLst>
          </a:prstGeom>
          <a:solidFill>
            <a:srgbClr val="E7EAF3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4" name="Shape 22">
            <a:extLst>
              <a:ext uri="{FF2B5EF4-FFF2-40B4-BE49-F238E27FC236}">
                <a16:creationId xmlns:a16="http://schemas.microsoft.com/office/drawing/2014/main" id="{4EBF30B8-3104-1B52-7EB6-658EEC861EE0}"/>
              </a:ext>
            </a:extLst>
          </p:cNvPr>
          <p:cNvSpPr/>
          <p:nvPr/>
        </p:nvSpPr>
        <p:spPr>
          <a:xfrm>
            <a:off x="2570705" y="1837944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56" name="Image 1" descr="/home/claude/icons/cpu_1B2A4A.png">
            <a:extLst>
              <a:ext uri="{FF2B5EF4-FFF2-40B4-BE49-F238E27FC236}">
                <a16:creationId xmlns:a16="http://schemas.microsoft.com/office/drawing/2014/main" id="{75802CC4-2851-66B8-57BA-19279428A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600" y="1960839"/>
            <a:ext cx="266273" cy="266273"/>
          </a:xfrm>
          <a:prstGeom prst="rect">
            <a:avLst/>
          </a:prstGeom>
        </p:spPr>
      </p:pic>
      <p:sp>
        <p:nvSpPr>
          <p:cNvPr id="158" name="Text 23">
            <a:extLst>
              <a:ext uri="{FF2B5EF4-FFF2-40B4-BE49-F238E27FC236}">
                <a16:creationId xmlns:a16="http://schemas.microsoft.com/office/drawing/2014/main" id="{98D66E86-61F8-4F18-FC58-BE9E38CE34B3}"/>
              </a:ext>
            </a:extLst>
          </p:cNvPr>
          <p:cNvSpPr txBox="1"/>
          <p:nvPr/>
        </p:nvSpPr>
        <p:spPr>
          <a:xfrm>
            <a:off x="2210627" y="2404872"/>
            <a:ext cx="123221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Processing</a:t>
            </a:r>
            <a:endParaRPr lang="en-US" sz="1150" dirty="0"/>
          </a:p>
        </p:txBody>
      </p:sp>
      <p:sp>
        <p:nvSpPr>
          <p:cNvPr id="160" name="Text 24">
            <a:extLst>
              <a:ext uri="{FF2B5EF4-FFF2-40B4-BE49-F238E27FC236}">
                <a16:creationId xmlns:a16="http://schemas.microsoft.com/office/drawing/2014/main" id="{2BAE84A2-97A4-26F0-D771-8BE8EFC0560F}"/>
              </a:ext>
            </a:extLst>
          </p:cNvPr>
          <p:cNvSpPr txBox="1"/>
          <p:nvPr/>
        </p:nvSpPr>
        <p:spPr>
          <a:xfrm>
            <a:off x="2210627" y="2862072"/>
            <a:ext cx="123221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standardize, aggregate to grid / hour, enrich with geometry</a:t>
            </a:r>
            <a:endParaRPr lang="en-US" sz="900" dirty="0"/>
          </a:p>
        </p:txBody>
      </p:sp>
      <p:sp>
        <p:nvSpPr>
          <p:cNvPr id="162" name="Shape 25">
            <a:extLst>
              <a:ext uri="{FF2B5EF4-FFF2-40B4-BE49-F238E27FC236}">
                <a16:creationId xmlns:a16="http://schemas.microsoft.com/office/drawing/2014/main" id="{6F4B1506-080A-0CB9-9231-786EB4E20310}"/>
              </a:ext>
            </a:extLst>
          </p:cNvPr>
          <p:cNvSpPr/>
          <p:nvPr/>
        </p:nvSpPr>
        <p:spPr>
          <a:xfrm>
            <a:off x="3534287" y="2775204"/>
            <a:ext cx="219456" cy="164592"/>
          </a:xfrm>
          <a:prstGeom prst="rightArrow">
            <a:avLst/>
          </a:prstGeom>
          <a:solidFill>
            <a:srgbClr val="C7D0DE"/>
          </a:solidFill>
          <a:ln/>
        </p:spPr>
      </p:sp>
      <p:sp>
        <p:nvSpPr>
          <p:cNvPr id="164" name="Shape 26">
            <a:extLst>
              <a:ext uri="{FF2B5EF4-FFF2-40B4-BE49-F238E27FC236}">
                <a16:creationId xmlns:a16="http://schemas.microsoft.com/office/drawing/2014/main" id="{714ACA20-C189-FDBD-10D2-4BE9B197B3C3}"/>
              </a:ext>
            </a:extLst>
          </p:cNvPr>
          <p:cNvSpPr/>
          <p:nvPr/>
        </p:nvSpPr>
        <p:spPr>
          <a:xfrm>
            <a:off x="3772031" y="1691640"/>
            <a:ext cx="1378523" cy="2331720"/>
          </a:xfrm>
          <a:prstGeom prst="roundRect">
            <a:avLst>
              <a:gd name="adj" fmla="val 5307"/>
            </a:avLst>
          </a:prstGeom>
          <a:solidFill>
            <a:srgbClr val="DFF0E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66" name="Shape 27">
            <a:extLst>
              <a:ext uri="{FF2B5EF4-FFF2-40B4-BE49-F238E27FC236}">
                <a16:creationId xmlns:a16="http://schemas.microsoft.com/office/drawing/2014/main" id="{BB0249B5-512F-9E5A-CA9D-CE34906ED35E}"/>
              </a:ext>
            </a:extLst>
          </p:cNvPr>
          <p:cNvSpPr/>
          <p:nvPr/>
        </p:nvSpPr>
        <p:spPr>
          <a:xfrm>
            <a:off x="4205260" y="1837944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68" name="Image 2" descr="/home/claude/icons/database_0E7C86.png">
            <a:extLst>
              <a:ext uri="{FF2B5EF4-FFF2-40B4-BE49-F238E27FC236}">
                <a16:creationId xmlns:a16="http://schemas.microsoft.com/office/drawing/2014/main" id="{E93031ED-B53F-4369-A656-6CA992278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156" y="1960839"/>
            <a:ext cx="266273" cy="266273"/>
          </a:xfrm>
          <a:prstGeom prst="rect">
            <a:avLst/>
          </a:prstGeom>
        </p:spPr>
      </p:pic>
      <p:sp>
        <p:nvSpPr>
          <p:cNvPr id="170" name="Text 28">
            <a:extLst>
              <a:ext uri="{FF2B5EF4-FFF2-40B4-BE49-F238E27FC236}">
                <a16:creationId xmlns:a16="http://schemas.microsoft.com/office/drawing/2014/main" id="{539CB118-07A4-0BEC-B4DF-C95160208FD7}"/>
              </a:ext>
            </a:extLst>
          </p:cNvPr>
          <p:cNvSpPr txBox="1"/>
          <p:nvPr/>
        </p:nvSpPr>
        <p:spPr>
          <a:xfrm>
            <a:off x="3845183" y="2404872"/>
            <a:ext cx="123221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Warehouse</a:t>
            </a:r>
            <a:endParaRPr lang="en-US" sz="1150" dirty="0"/>
          </a:p>
        </p:txBody>
      </p:sp>
      <p:sp>
        <p:nvSpPr>
          <p:cNvPr id="172" name="Text 29">
            <a:extLst>
              <a:ext uri="{FF2B5EF4-FFF2-40B4-BE49-F238E27FC236}">
                <a16:creationId xmlns:a16="http://schemas.microsoft.com/office/drawing/2014/main" id="{4F8312F2-5C32-01F2-6E08-A1EFE75D6CDD}"/>
              </a:ext>
            </a:extLst>
          </p:cNvPr>
          <p:cNvSpPr txBox="1"/>
          <p:nvPr/>
        </p:nvSpPr>
        <p:spPr>
          <a:xfrm>
            <a:off x="3845183" y="2862072"/>
            <a:ext cx="123221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fact_network_activity, dim_grid, dim_time</a:t>
            </a:r>
            <a:endParaRPr lang="en-US" sz="900" dirty="0"/>
          </a:p>
        </p:txBody>
      </p:sp>
      <p:sp>
        <p:nvSpPr>
          <p:cNvPr id="174" name="Shape 30">
            <a:extLst>
              <a:ext uri="{FF2B5EF4-FFF2-40B4-BE49-F238E27FC236}">
                <a16:creationId xmlns:a16="http://schemas.microsoft.com/office/drawing/2014/main" id="{868430C2-1729-630D-64BE-473D86DC4726}"/>
              </a:ext>
            </a:extLst>
          </p:cNvPr>
          <p:cNvSpPr/>
          <p:nvPr/>
        </p:nvSpPr>
        <p:spPr>
          <a:xfrm>
            <a:off x="5168842" y="2775204"/>
            <a:ext cx="219456" cy="164592"/>
          </a:xfrm>
          <a:prstGeom prst="rightArrow">
            <a:avLst/>
          </a:prstGeom>
          <a:solidFill>
            <a:srgbClr val="C7D0DE"/>
          </a:solidFill>
          <a:ln/>
        </p:spPr>
      </p:sp>
      <p:sp>
        <p:nvSpPr>
          <p:cNvPr id="176" name="Shape 31">
            <a:extLst>
              <a:ext uri="{FF2B5EF4-FFF2-40B4-BE49-F238E27FC236}">
                <a16:creationId xmlns:a16="http://schemas.microsoft.com/office/drawing/2014/main" id="{633A6A28-8DB3-2A2D-C9C4-6C104EADBF55}"/>
              </a:ext>
            </a:extLst>
          </p:cNvPr>
          <p:cNvSpPr/>
          <p:nvPr/>
        </p:nvSpPr>
        <p:spPr>
          <a:xfrm>
            <a:off x="5406586" y="1691640"/>
            <a:ext cx="1378523" cy="2331720"/>
          </a:xfrm>
          <a:prstGeom prst="roundRect">
            <a:avLst>
              <a:gd name="adj" fmla="val 5307"/>
            </a:avLst>
          </a:prstGeom>
          <a:solidFill>
            <a:srgbClr val="E7EAF3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78" name="Shape 32">
            <a:extLst>
              <a:ext uri="{FF2B5EF4-FFF2-40B4-BE49-F238E27FC236}">
                <a16:creationId xmlns:a16="http://schemas.microsoft.com/office/drawing/2014/main" id="{5DD36795-6091-E632-202A-082A7F432F06}"/>
              </a:ext>
            </a:extLst>
          </p:cNvPr>
          <p:cNvSpPr/>
          <p:nvPr/>
        </p:nvSpPr>
        <p:spPr>
          <a:xfrm>
            <a:off x="5839816" y="1837944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80" name="Image 3" descr="/home/claude/icons/trendingup_1B2A4A.png">
            <a:extLst>
              <a:ext uri="{FF2B5EF4-FFF2-40B4-BE49-F238E27FC236}">
                <a16:creationId xmlns:a16="http://schemas.microsoft.com/office/drawing/2014/main" id="{244788EF-D99A-A8F3-D5E6-9B48D94F4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711" y="1960839"/>
            <a:ext cx="266273" cy="266273"/>
          </a:xfrm>
          <a:prstGeom prst="rect">
            <a:avLst/>
          </a:prstGeom>
        </p:spPr>
      </p:pic>
      <p:sp>
        <p:nvSpPr>
          <p:cNvPr id="182" name="Text 33">
            <a:extLst>
              <a:ext uri="{FF2B5EF4-FFF2-40B4-BE49-F238E27FC236}">
                <a16:creationId xmlns:a16="http://schemas.microsoft.com/office/drawing/2014/main" id="{05CD6B74-107E-E65A-535C-FA9F58F13A2B}"/>
              </a:ext>
            </a:extLst>
          </p:cNvPr>
          <p:cNvSpPr txBox="1"/>
          <p:nvPr/>
        </p:nvSpPr>
        <p:spPr>
          <a:xfrm>
            <a:off x="5479738" y="2404872"/>
            <a:ext cx="123221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&amp; ML Scoring</a:t>
            </a:r>
            <a:endParaRPr lang="en-US" sz="1150" dirty="0"/>
          </a:p>
        </p:txBody>
      </p:sp>
      <p:sp>
        <p:nvSpPr>
          <p:cNvPr id="184" name="Text 34">
            <a:extLst>
              <a:ext uri="{FF2B5EF4-FFF2-40B4-BE49-F238E27FC236}">
                <a16:creationId xmlns:a16="http://schemas.microsoft.com/office/drawing/2014/main" id="{A3DBD7A0-F712-88E8-8925-F51B7AACDDF3}"/>
              </a:ext>
            </a:extLst>
          </p:cNvPr>
          <p:cNvSpPr txBox="1"/>
          <p:nvPr/>
        </p:nvSpPr>
        <p:spPr>
          <a:xfrm>
            <a:off x="5479738" y="2862072"/>
            <a:ext cx="123221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Trailing-window features, risk classifier, anomaly baseline</a:t>
            </a:r>
            <a:endParaRPr lang="en-US" sz="900" dirty="0"/>
          </a:p>
        </p:txBody>
      </p:sp>
      <p:sp>
        <p:nvSpPr>
          <p:cNvPr id="186" name="Shape 35">
            <a:extLst>
              <a:ext uri="{FF2B5EF4-FFF2-40B4-BE49-F238E27FC236}">
                <a16:creationId xmlns:a16="http://schemas.microsoft.com/office/drawing/2014/main" id="{15220E87-3292-63FA-93FE-1646A5018DC6}"/>
              </a:ext>
            </a:extLst>
          </p:cNvPr>
          <p:cNvSpPr/>
          <p:nvPr/>
        </p:nvSpPr>
        <p:spPr>
          <a:xfrm>
            <a:off x="6803397" y="2775204"/>
            <a:ext cx="219456" cy="164592"/>
          </a:xfrm>
          <a:prstGeom prst="rightArrow">
            <a:avLst/>
          </a:prstGeom>
          <a:solidFill>
            <a:srgbClr val="C7D0DE"/>
          </a:solidFill>
          <a:ln/>
        </p:spPr>
      </p:sp>
      <p:sp>
        <p:nvSpPr>
          <p:cNvPr id="188" name="Shape 36">
            <a:extLst>
              <a:ext uri="{FF2B5EF4-FFF2-40B4-BE49-F238E27FC236}">
                <a16:creationId xmlns:a16="http://schemas.microsoft.com/office/drawing/2014/main" id="{A0BEB3F4-EB51-E943-291F-70FCD84DA03D}"/>
              </a:ext>
            </a:extLst>
          </p:cNvPr>
          <p:cNvSpPr/>
          <p:nvPr/>
        </p:nvSpPr>
        <p:spPr>
          <a:xfrm>
            <a:off x="7041141" y="1691640"/>
            <a:ext cx="1378523" cy="2331720"/>
          </a:xfrm>
          <a:prstGeom prst="roundRect">
            <a:avLst>
              <a:gd name="adj" fmla="val 5307"/>
            </a:avLst>
          </a:prstGeom>
          <a:solidFill>
            <a:srgbClr val="DFF0E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90" name="Shape 37">
            <a:extLst>
              <a:ext uri="{FF2B5EF4-FFF2-40B4-BE49-F238E27FC236}">
                <a16:creationId xmlns:a16="http://schemas.microsoft.com/office/drawing/2014/main" id="{4D29E99C-B995-E240-7B8E-CC66FEA235B7}"/>
              </a:ext>
            </a:extLst>
          </p:cNvPr>
          <p:cNvSpPr/>
          <p:nvPr/>
        </p:nvSpPr>
        <p:spPr>
          <a:xfrm>
            <a:off x="7474371" y="1837944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92" name="Image 4" descr="/home/claude/icons/server_0E7C86.png">
            <a:extLst>
              <a:ext uri="{FF2B5EF4-FFF2-40B4-BE49-F238E27FC236}">
                <a16:creationId xmlns:a16="http://schemas.microsoft.com/office/drawing/2014/main" id="{FDC6652F-5E40-465A-5B9F-276B0F66E3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7266" y="1960839"/>
            <a:ext cx="266273" cy="266273"/>
          </a:xfrm>
          <a:prstGeom prst="rect">
            <a:avLst/>
          </a:prstGeom>
        </p:spPr>
      </p:pic>
      <p:sp>
        <p:nvSpPr>
          <p:cNvPr id="194" name="Text 38">
            <a:extLst>
              <a:ext uri="{FF2B5EF4-FFF2-40B4-BE49-F238E27FC236}">
                <a16:creationId xmlns:a16="http://schemas.microsoft.com/office/drawing/2014/main" id="{4691A458-1645-F040-5CCE-546C616F4A3E}"/>
              </a:ext>
            </a:extLst>
          </p:cNvPr>
          <p:cNvSpPr txBox="1"/>
          <p:nvPr/>
        </p:nvSpPr>
        <p:spPr>
          <a:xfrm>
            <a:off x="7114293" y="2404872"/>
            <a:ext cx="123221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Layer</a:t>
            </a:r>
            <a:endParaRPr lang="en-US" sz="1150" dirty="0"/>
          </a:p>
        </p:txBody>
      </p:sp>
      <p:sp>
        <p:nvSpPr>
          <p:cNvPr id="196" name="Text 39">
            <a:extLst>
              <a:ext uri="{FF2B5EF4-FFF2-40B4-BE49-F238E27FC236}">
                <a16:creationId xmlns:a16="http://schemas.microsoft.com/office/drawing/2014/main" id="{CE092D8A-614E-D97F-31D5-8978D6496379}"/>
              </a:ext>
            </a:extLst>
          </p:cNvPr>
          <p:cNvSpPr txBox="1"/>
          <p:nvPr/>
        </p:nvSpPr>
        <p:spPr>
          <a:xfrm>
            <a:off x="7114293" y="2862072"/>
            <a:ext cx="123221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feature, prediction &amp; pipeline-status endpoints</a:t>
            </a:r>
            <a:endParaRPr lang="en-US" sz="900" dirty="0"/>
          </a:p>
        </p:txBody>
      </p:sp>
      <p:sp>
        <p:nvSpPr>
          <p:cNvPr id="198" name="Shape 40">
            <a:extLst>
              <a:ext uri="{FF2B5EF4-FFF2-40B4-BE49-F238E27FC236}">
                <a16:creationId xmlns:a16="http://schemas.microsoft.com/office/drawing/2014/main" id="{21C28F8B-B226-7A6A-E94D-7BAE80613731}"/>
              </a:ext>
            </a:extLst>
          </p:cNvPr>
          <p:cNvSpPr/>
          <p:nvPr/>
        </p:nvSpPr>
        <p:spPr>
          <a:xfrm>
            <a:off x="8437953" y="2775204"/>
            <a:ext cx="219456" cy="164592"/>
          </a:xfrm>
          <a:prstGeom prst="rightArrow">
            <a:avLst/>
          </a:prstGeom>
          <a:solidFill>
            <a:srgbClr val="C7D0DE"/>
          </a:solidFill>
          <a:ln/>
        </p:spPr>
      </p:sp>
      <p:sp>
        <p:nvSpPr>
          <p:cNvPr id="200" name="Shape 41">
            <a:extLst>
              <a:ext uri="{FF2B5EF4-FFF2-40B4-BE49-F238E27FC236}">
                <a16:creationId xmlns:a16="http://schemas.microsoft.com/office/drawing/2014/main" id="{AA60935C-4E0D-0B74-42FE-ED5BE5929629}"/>
              </a:ext>
            </a:extLst>
          </p:cNvPr>
          <p:cNvSpPr/>
          <p:nvPr/>
        </p:nvSpPr>
        <p:spPr>
          <a:xfrm>
            <a:off x="8675697" y="1691640"/>
            <a:ext cx="1378523" cy="2331720"/>
          </a:xfrm>
          <a:prstGeom prst="roundRect">
            <a:avLst>
              <a:gd name="adj" fmla="val 5307"/>
            </a:avLst>
          </a:prstGeom>
          <a:solidFill>
            <a:srgbClr val="E7EAF3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2" name="Shape 42">
            <a:extLst>
              <a:ext uri="{FF2B5EF4-FFF2-40B4-BE49-F238E27FC236}">
                <a16:creationId xmlns:a16="http://schemas.microsoft.com/office/drawing/2014/main" id="{C8AB8674-0DB6-A244-EF13-236C2FF297C4}"/>
              </a:ext>
            </a:extLst>
          </p:cNvPr>
          <p:cNvSpPr/>
          <p:nvPr/>
        </p:nvSpPr>
        <p:spPr>
          <a:xfrm>
            <a:off x="9108926" y="1837944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04" name="Image 5" descr="/home/claude/icons/monitor_1B2A4A.png">
            <a:extLst>
              <a:ext uri="{FF2B5EF4-FFF2-40B4-BE49-F238E27FC236}">
                <a16:creationId xmlns:a16="http://schemas.microsoft.com/office/drawing/2014/main" id="{71DED3F4-4854-FFE9-83EE-A5F4DBBC0C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1822" y="1960839"/>
            <a:ext cx="266273" cy="266273"/>
          </a:xfrm>
          <a:prstGeom prst="rect">
            <a:avLst/>
          </a:prstGeom>
        </p:spPr>
      </p:pic>
      <p:sp>
        <p:nvSpPr>
          <p:cNvPr id="206" name="Text 43">
            <a:extLst>
              <a:ext uri="{FF2B5EF4-FFF2-40B4-BE49-F238E27FC236}">
                <a16:creationId xmlns:a16="http://schemas.microsoft.com/office/drawing/2014/main" id="{A503BBCF-0856-D90D-E0CE-FAE5D2C3A4BD}"/>
              </a:ext>
            </a:extLst>
          </p:cNvPr>
          <p:cNvSpPr txBox="1"/>
          <p:nvPr/>
        </p:nvSpPr>
        <p:spPr>
          <a:xfrm>
            <a:off x="8748849" y="2404872"/>
            <a:ext cx="123221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NOC Dashboard</a:t>
            </a:r>
            <a:endParaRPr lang="en-US" sz="1150" dirty="0"/>
          </a:p>
        </p:txBody>
      </p:sp>
      <p:sp>
        <p:nvSpPr>
          <p:cNvPr id="208" name="Text 44">
            <a:extLst>
              <a:ext uri="{FF2B5EF4-FFF2-40B4-BE49-F238E27FC236}">
                <a16:creationId xmlns:a16="http://schemas.microsoft.com/office/drawing/2014/main" id="{2AC6CEC4-6C2D-AF31-9630-94A9D6B28F7A}"/>
              </a:ext>
            </a:extLst>
          </p:cNvPr>
          <p:cNvSpPr txBox="1"/>
          <p:nvPr/>
        </p:nvSpPr>
        <p:spPr>
          <a:xfrm>
            <a:off x="8748849" y="2862072"/>
            <a:ext cx="123221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grid explorer, Milan map, predictive risk view</a:t>
            </a:r>
            <a:endParaRPr lang="en-US" sz="900" dirty="0"/>
          </a:p>
        </p:txBody>
      </p:sp>
      <p:sp>
        <p:nvSpPr>
          <p:cNvPr id="210" name="Shape 45">
            <a:extLst>
              <a:ext uri="{FF2B5EF4-FFF2-40B4-BE49-F238E27FC236}">
                <a16:creationId xmlns:a16="http://schemas.microsoft.com/office/drawing/2014/main" id="{7D7B39C5-E31D-94A5-CEE5-255AB0DD35E6}"/>
              </a:ext>
            </a:extLst>
          </p:cNvPr>
          <p:cNvSpPr/>
          <p:nvPr/>
        </p:nvSpPr>
        <p:spPr>
          <a:xfrm>
            <a:off x="10072508" y="2775204"/>
            <a:ext cx="219456" cy="164592"/>
          </a:xfrm>
          <a:prstGeom prst="rightArrow">
            <a:avLst/>
          </a:prstGeom>
          <a:solidFill>
            <a:srgbClr val="C7D0DE"/>
          </a:solidFill>
          <a:ln/>
        </p:spPr>
      </p:sp>
      <p:sp>
        <p:nvSpPr>
          <p:cNvPr id="212" name="Shape 46">
            <a:extLst>
              <a:ext uri="{FF2B5EF4-FFF2-40B4-BE49-F238E27FC236}">
                <a16:creationId xmlns:a16="http://schemas.microsoft.com/office/drawing/2014/main" id="{0BD9AE39-D470-2222-68F3-A8B1A424B54E}"/>
              </a:ext>
            </a:extLst>
          </p:cNvPr>
          <p:cNvSpPr/>
          <p:nvPr/>
        </p:nvSpPr>
        <p:spPr>
          <a:xfrm>
            <a:off x="10310252" y="1691640"/>
            <a:ext cx="1378523" cy="2331720"/>
          </a:xfrm>
          <a:prstGeom prst="roundRect">
            <a:avLst>
              <a:gd name="adj" fmla="val 5307"/>
            </a:avLst>
          </a:prstGeom>
          <a:solidFill>
            <a:srgbClr val="FDF0D9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14" name="Shape 47">
            <a:extLst>
              <a:ext uri="{FF2B5EF4-FFF2-40B4-BE49-F238E27FC236}">
                <a16:creationId xmlns:a16="http://schemas.microsoft.com/office/drawing/2014/main" id="{4193A93D-B155-C108-CBF1-C992E12BC6B7}"/>
              </a:ext>
            </a:extLst>
          </p:cNvPr>
          <p:cNvSpPr/>
          <p:nvPr/>
        </p:nvSpPr>
        <p:spPr>
          <a:xfrm>
            <a:off x="10743482" y="1837944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16" name="Image 6" descr="/home/claude/icons/message_B5791F.png">
            <a:extLst>
              <a:ext uri="{FF2B5EF4-FFF2-40B4-BE49-F238E27FC236}">
                <a16:creationId xmlns:a16="http://schemas.microsoft.com/office/drawing/2014/main" id="{89729DC6-5CF1-3325-DFCD-D2C8B3E5A0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6377" y="1960839"/>
            <a:ext cx="266273" cy="266273"/>
          </a:xfrm>
          <a:prstGeom prst="rect">
            <a:avLst/>
          </a:prstGeom>
        </p:spPr>
      </p:pic>
      <p:sp>
        <p:nvSpPr>
          <p:cNvPr id="218" name="Text 48">
            <a:extLst>
              <a:ext uri="{FF2B5EF4-FFF2-40B4-BE49-F238E27FC236}">
                <a16:creationId xmlns:a16="http://schemas.microsoft.com/office/drawing/2014/main" id="{91F2C734-FC5A-E91F-EFA0-5248C7D0C0F3}"/>
              </a:ext>
            </a:extLst>
          </p:cNvPr>
          <p:cNvSpPr txBox="1"/>
          <p:nvPr/>
        </p:nvSpPr>
        <p:spPr>
          <a:xfrm>
            <a:off x="10383404" y="2404872"/>
            <a:ext cx="123221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NOC Copilot</a:t>
            </a:r>
            <a:endParaRPr lang="en-US" sz="1150" dirty="0"/>
          </a:p>
        </p:txBody>
      </p:sp>
      <p:sp>
        <p:nvSpPr>
          <p:cNvPr id="220" name="Text 49">
            <a:extLst>
              <a:ext uri="{FF2B5EF4-FFF2-40B4-BE49-F238E27FC236}">
                <a16:creationId xmlns:a16="http://schemas.microsoft.com/office/drawing/2014/main" id="{6D8525C6-95F4-EACC-D75D-EC5AB095AC8D}"/>
              </a:ext>
            </a:extLst>
          </p:cNvPr>
          <p:cNvSpPr txBox="1"/>
          <p:nvPr/>
        </p:nvSpPr>
        <p:spPr>
          <a:xfrm>
            <a:off x="10383404" y="2862072"/>
            <a:ext cx="123221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use, MCP, headless investigation agent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04 / 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1065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From raw activity to analytics-ready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The pipeline establishes the data contract every downstream layer relies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13258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00" b="1">
                <a:solidFill>
                  <a:srgbClr val="39D98A"/>
                </a:solidFill>
                <a:latin typeface="Consolas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3258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Daily Milan CSVs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395728"/>
            <a:ext cx="21031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326917" y="2395728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326917" y="2347933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41448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78608" y="2029968"/>
            <a:ext cx="13258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00" b="1">
                <a:solidFill>
                  <a:srgbClr val="39D98A"/>
                </a:solidFill>
                <a:latin typeface="Consolas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2331720"/>
            <a:ext cx="13258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Schema + file scope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41648" y="2395728"/>
            <a:ext cx="21031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174005" y="2395728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4174005" y="2347933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8536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5696" y="2029968"/>
            <a:ext cx="13258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00" b="1">
                <a:solidFill>
                  <a:srgbClr val="4F8CFF"/>
                </a:solidFill>
                <a:latin typeface="Consolas"/>
              </a:rP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331720"/>
            <a:ext cx="13258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PySpark cleaning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88736" y="2395728"/>
            <a:ext cx="21031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021093" y="2395728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6021093" y="2347933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35624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72784" y="2029968"/>
            <a:ext cx="13258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00" b="1">
                <a:solidFill>
                  <a:srgbClr val="4F8CFF"/>
                </a:solidFill>
                <a:latin typeface="Consolas"/>
              </a:rPr>
              <a:t>AGGREGATE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331720"/>
            <a:ext cx="13258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Grid × hour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35824" y="2395728"/>
            <a:ext cx="21031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868181" y="2395728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7868181" y="2347933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982712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9872" y="2029968"/>
            <a:ext cx="13258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00" b="1">
                <a:solidFill>
                  <a:srgbClr val="4F8CFF"/>
                </a:solidFill>
                <a:latin typeface="Consolas"/>
              </a:rPr>
              <a:t>ENRICH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2" y="2331720"/>
            <a:ext cx="13258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Milan geometry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82912" y="2395728"/>
            <a:ext cx="21031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715269" y="2395728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9715269" y="2347933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29800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66960" y="2029968"/>
            <a:ext cx="13258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00" b="1">
                <a:solidFill>
                  <a:srgbClr val="F0B35B"/>
                </a:solidFill>
                <a:latin typeface="Consolas"/>
              </a:rPr>
              <a:t>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2331720"/>
            <a:ext cx="13258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Parquet + warehouse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3429000"/>
            <a:ext cx="5349240" cy="19659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3675887"/>
            <a:ext cx="45720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KEY DATA-GRAIN CONTRACT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023360"/>
            <a:ext cx="4617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Canonical hourly network activity at grid level.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Static Milan grid reference with 10,000 cells.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Shared AS_OF semantics across downstream views.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3429000"/>
            <a:ext cx="5394960" cy="19659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3675887"/>
            <a:ext cx="45720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RELIABILITY CONTROLS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023360"/>
            <a:ext cx="4617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20" b="1">
                <a:solidFill>
                  <a:srgbClr val="F0B35B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File-scope protection for Milan inputs.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F0B35B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Validation and reproducible processing.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F0B35B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Pipeline status exposed to operational consumers.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05 /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1065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Three complementary decision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Rules, historical deviation and ML answer different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3154680" cy="3429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2697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RULE-BASED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269748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50" b="1">
                <a:solidFill>
                  <a:srgbClr val="E7EDF3"/>
                </a:solidFill>
                <a:latin typeface="Aptos"/>
              </a:rPr>
              <a:t>What is happening right now?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3108960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3063240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HIGH_ACTIVITY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3584448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1" y="3538728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ACTIVITY_SPIKE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4059936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4014216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ACTIVITY_DROP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1783080"/>
            <a:ext cx="3154680" cy="3429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2029968"/>
            <a:ext cx="2697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ANOMALY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395728"/>
            <a:ext cx="269748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50" b="1">
                <a:solidFill>
                  <a:srgbClr val="E7EDF3"/>
                </a:solidFill>
                <a:latin typeface="Aptos"/>
              </a:rPr>
              <a:t>Is this unusual for this grid and hour?</a:t>
            </a:r>
          </a:p>
        </p:txBody>
      </p:sp>
      <p:sp>
        <p:nvSpPr>
          <p:cNvPr id="18" name="Oval 17"/>
          <p:cNvSpPr/>
          <p:nvPr/>
        </p:nvSpPr>
        <p:spPr>
          <a:xfrm>
            <a:off x="4315968" y="3108960"/>
            <a:ext cx="91440" cy="91440"/>
          </a:xfrm>
          <a:prstGeom prst="ellipse">
            <a:avLst/>
          </a:prstGeom>
          <a:solidFill>
            <a:srgbClr val="F0B35B"/>
          </a:solidFill>
          <a:ln>
            <a:solidFill>
              <a:srgbClr val="F0B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7992" y="3063240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Historical baseline</a:t>
            </a:r>
          </a:p>
        </p:txBody>
      </p:sp>
      <p:sp>
        <p:nvSpPr>
          <p:cNvPr id="20" name="Oval 19"/>
          <p:cNvSpPr/>
          <p:nvPr/>
        </p:nvSpPr>
        <p:spPr>
          <a:xfrm>
            <a:off x="4315968" y="3584448"/>
            <a:ext cx="91440" cy="91440"/>
          </a:xfrm>
          <a:prstGeom prst="ellipse">
            <a:avLst/>
          </a:prstGeom>
          <a:solidFill>
            <a:srgbClr val="F0B35B"/>
          </a:solidFill>
          <a:ln>
            <a:solidFill>
              <a:srgbClr val="F0B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3538728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Deviation score</a:t>
            </a:r>
          </a:p>
        </p:txBody>
      </p:sp>
      <p:sp>
        <p:nvSpPr>
          <p:cNvPr id="22" name="Oval 21"/>
          <p:cNvSpPr/>
          <p:nvPr/>
        </p:nvSpPr>
        <p:spPr>
          <a:xfrm>
            <a:off x="4315968" y="4059936"/>
            <a:ext cx="91440" cy="91440"/>
          </a:xfrm>
          <a:prstGeom prst="ellipse">
            <a:avLst/>
          </a:prstGeom>
          <a:solidFill>
            <a:srgbClr val="F0B35B"/>
          </a:solidFill>
          <a:ln>
            <a:solidFill>
              <a:srgbClr val="F0B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07992" y="4014216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High / low direction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1783080"/>
            <a:ext cx="3154680" cy="3429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0" y="2029968"/>
            <a:ext cx="2697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ML3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395728"/>
            <a:ext cx="269748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50" b="1">
                <a:solidFill>
                  <a:srgbClr val="E7EDF3"/>
                </a:solidFill>
                <a:latin typeface="Aptos"/>
              </a:rPr>
              <a:t>What is the predicted future risk?</a:t>
            </a:r>
          </a:p>
        </p:txBody>
      </p:sp>
      <p:sp>
        <p:nvSpPr>
          <p:cNvPr id="27" name="Oval 26"/>
          <p:cNvSpPr/>
          <p:nvPr/>
        </p:nvSpPr>
        <p:spPr>
          <a:xfrm>
            <a:off x="7790688" y="3108960"/>
            <a:ext cx="91440" cy="91440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82712" y="3063240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Future-window target</a:t>
            </a:r>
          </a:p>
        </p:txBody>
      </p:sp>
      <p:sp>
        <p:nvSpPr>
          <p:cNvPr id="29" name="Oval 28"/>
          <p:cNvSpPr/>
          <p:nvPr/>
        </p:nvSpPr>
        <p:spPr>
          <a:xfrm>
            <a:off x="7790688" y="3584448"/>
            <a:ext cx="91440" cy="91440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82712" y="3538728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Decision Tree classifier</a:t>
            </a:r>
          </a:p>
        </p:txBody>
      </p:sp>
      <p:sp>
        <p:nvSpPr>
          <p:cNvPr id="31" name="Oval 30"/>
          <p:cNvSpPr/>
          <p:nvPr/>
        </p:nvSpPr>
        <p:spPr>
          <a:xfrm>
            <a:off x="7790688" y="4059936"/>
            <a:ext cx="91440" cy="91440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82712" y="4014216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Risk score + level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486400"/>
            <a:ext cx="10104120" cy="5029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623560"/>
            <a:ext cx="96012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019" b="1">
                <a:solidFill>
                  <a:srgbClr val="E7EDF3"/>
                </a:solidFill>
                <a:latin typeface="Aptos"/>
              </a:rPr>
              <a:t>Operational principle: a risk score is an attention signal — not proof of congestion or a network fault.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06 / SERVICE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6616" y="691065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FastAPI turns analytics into reusable operational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The dashboard consumes stable endpoints instead of embedding analytics logic in the 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6629400" cy="44805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585216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OPERATIONAL API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>
                <a:solidFill>
                  <a:srgbClr val="39D98A"/>
                </a:solidFill>
                <a:latin typeface="Consolas"/>
              </a:rPr>
              <a:t>/network/summary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304288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Top-level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52344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>
                <a:solidFill>
                  <a:srgbClr val="4F8CFF"/>
                </a:solidFill>
                <a:latin typeface="Consolas"/>
              </a:rPr>
              <a:t>/network/grid/{id}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752344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Hourly grid 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>
                <a:solidFill>
                  <a:srgbClr val="F0B35B"/>
                </a:solidFill>
                <a:latin typeface="Consolas"/>
              </a:rPr>
              <a:t>/network/hotspots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00400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Ranked high-activity areas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48456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>
                <a:solidFill>
                  <a:srgbClr val="FF6B72"/>
                </a:solidFill>
                <a:latin typeface="Consolas"/>
              </a:rPr>
              <a:t>/network/alerts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648456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Operational attention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96512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>
                <a:solidFill>
                  <a:srgbClr val="4F8CFF"/>
                </a:solidFill>
                <a:latin typeface="Consolas"/>
              </a:rPr>
              <a:t>/network/grid/{id}/features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096512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ML feature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44568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>
                <a:solidFill>
                  <a:srgbClr val="F0B35B"/>
                </a:solidFill>
                <a:latin typeface="Consolas"/>
              </a:rPr>
              <a:t>/network/predict-risk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544568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ML3 risk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92624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>
                <a:solidFill>
                  <a:srgbClr val="39D98A"/>
                </a:solidFill>
                <a:latin typeface="Consolas"/>
              </a:rPr>
              <a:t>/pipeline/status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992624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Data / pipeline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>
                <a:solidFill>
                  <a:srgbClr val="4F8CFF"/>
                </a:solidFill>
                <a:latin typeface="Consolas"/>
              </a:rPr>
              <a:t>/network/grid/{id}/location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5440680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Geographic grid context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1691640"/>
            <a:ext cx="4114800" cy="44805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679" y="1920240"/>
            <a:ext cx="34747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DESIGN BENEFITS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331720"/>
            <a:ext cx="3337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10" b="1">
                <a:solidFill>
                  <a:srgbClr val="39D98A"/>
                </a:solidFill>
                <a:latin typeface="Aptos"/>
              </a:rPr>
              <a:t>▸ </a:t>
            </a:r>
            <a:r>
              <a:rPr sz="1110">
                <a:solidFill>
                  <a:srgbClr val="E7EDF3"/>
                </a:solidFill>
                <a:latin typeface="Aptos"/>
              </a:rPr>
              <a:t>Clear separation between UI and analytics.</a:t>
            </a:r>
          </a:p>
          <a:p>
            <a:pPr>
              <a:spcAft>
                <a:spcPts val="700"/>
              </a:spcAft>
            </a:pPr>
            <a:r>
              <a:rPr sz="1110" b="1">
                <a:solidFill>
                  <a:srgbClr val="39D98A"/>
                </a:solidFill>
                <a:latin typeface="Aptos"/>
              </a:rPr>
              <a:t>▸ </a:t>
            </a:r>
            <a:r>
              <a:rPr sz="1110">
                <a:solidFill>
                  <a:srgbClr val="E7EDF3"/>
                </a:solidFill>
                <a:latin typeface="Aptos"/>
              </a:rPr>
              <a:t>Reusable contracts for future AI tools.</a:t>
            </a:r>
          </a:p>
          <a:p>
            <a:pPr>
              <a:spcAft>
                <a:spcPts val="700"/>
              </a:spcAft>
            </a:pPr>
            <a:r>
              <a:rPr sz="1110" b="1">
                <a:solidFill>
                  <a:srgbClr val="39D98A"/>
                </a:solidFill>
                <a:latin typeface="Aptos"/>
              </a:rPr>
              <a:t>▸ </a:t>
            </a:r>
            <a:r>
              <a:rPr sz="1110">
                <a:solidFill>
                  <a:srgbClr val="E7EDF3"/>
                </a:solidFill>
                <a:latin typeface="Aptos"/>
              </a:rPr>
              <a:t>Centralized validation and error handling.</a:t>
            </a:r>
          </a:p>
          <a:p>
            <a:pPr>
              <a:spcAft>
                <a:spcPts val="700"/>
              </a:spcAft>
            </a:pPr>
            <a:r>
              <a:rPr sz="1110" b="1">
                <a:solidFill>
                  <a:srgbClr val="39D98A"/>
                </a:solidFill>
                <a:latin typeface="Aptos"/>
              </a:rPr>
              <a:t>▸ </a:t>
            </a:r>
            <a:r>
              <a:rPr sz="1110">
                <a:solidFill>
                  <a:srgbClr val="E7EDF3"/>
                </a:solidFill>
                <a:latin typeface="Aptos"/>
              </a:rPr>
              <a:t>One reporting-time concept across the system.</a:t>
            </a:r>
          </a:p>
          <a:p>
            <a:pPr>
              <a:spcAft>
                <a:spcPts val="700"/>
              </a:spcAft>
            </a:pPr>
            <a:r>
              <a:rPr sz="1110" b="1">
                <a:solidFill>
                  <a:srgbClr val="39D98A"/>
                </a:solidFill>
                <a:latin typeface="Aptos"/>
              </a:rPr>
              <a:t>▸ </a:t>
            </a:r>
            <a:r>
              <a:rPr sz="1110">
                <a:solidFill>
                  <a:srgbClr val="E7EDF3"/>
                </a:solidFill>
                <a:latin typeface="Aptos"/>
              </a:rPr>
              <a:t>Supports frontend, testing and future Claude tools.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07 /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5865" y="729647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The NOC control room</a:t>
            </a:r>
            <a:endParaRPr lang="en-US"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1908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0" dirty="0">
                <a:solidFill>
                  <a:schemeClr val="bg1"/>
                </a:solidFill>
                <a:latin typeface="Aptos"/>
              </a:rPr>
              <a:t>The frontend is intentionally aligned to an operator workflow: orient → drill down → investigate.</a:t>
            </a:r>
            <a:endParaRPr lang="en-US" sz="11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744" y="5572218"/>
            <a:ext cx="4974336" cy="1492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Aptos"/>
              </a:rPr>
              <a:t>Network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6748" y="5572218"/>
            <a:ext cx="4974336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chemeClr val="bg1"/>
                </a:solidFill>
                <a:latin typeface="Aptos"/>
              </a:rPr>
              <a:t>Grid Explorer</a:t>
            </a:r>
            <a:endParaRPr lang="en-US" sz="85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5925312"/>
            <a:ext cx="10972800" cy="16158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Overview answers “what is happening?”  •  Grid Explorer answers “what is happening inside this grid?”</a:t>
            </a:r>
            <a:endParaRPr lang="en-US" sz="900" b="1" dirty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EDA326F-256E-8BDD-A97F-86E25F6BF2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99" r="1442"/>
          <a:stretch>
            <a:fillRect/>
          </a:stretch>
        </p:blipFill>
        <p:spPr>
          <a:xfrm>
            <a:off x="7434079" y="1157699"/>
            <a:ext cx="3667174" cy="19694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DEDEC8-0A97-8813-EA85-FDB299415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870" y="3372086"/>
            <a:ext cx="3651664" cy="19644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6F3BBAB-596B-EF6C-A2BB-892BEAACB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68" y="1714365"/>
            <a:ext cx="6293923" cy="33105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08 / SPATIAL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574" y="727893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See the network where it matters</a:t>
            </a:r>
            <a:endParaRPr lang="en-US"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1908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0" dirty="0">
                <a:solidFill>
                  <a:schemeClr val="bg1"/>
                </a:solidFill>
                <a:latin typeface="Aptos"/>
              </a:rPr>
              <a:t>Ranked records and Milan grid geometry turn abstract activity into location-aware operations.</a:t>
            </a:r>
            <a:endParaRPr lang="en-US" sz="11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303" y="3810711"/>
            <a:ext cx="4974336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8B9DB1"/>
                </a:solidFill>
                <a:latin typeface="Aptos"/>
              </a:rPr>
              <a:t>Network Hotspots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0904" y="3810711"/>
            <a:ext cx="4974336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8B9DB1"/>
                </a:solidFill>
                <a:latin typeface="Aptos"/>
              </a:rPr>
              <a:t>Network Alerts 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53737" y="6321156"/>
            <a:ext cx="10972800" cy="15850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NORMAL  •  ATTENTION  •  HIGH    |    independent result limits    |    grid selection + tooltip context</a:t>
            </a:r>
            <a:endParaRPr lang="en-US" sz="900" b="1" dirty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178F25F-258F-7344-9F63-A603DB673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636" y="1504097"/>
            <a:ext cx="4156366" cy="226642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BD67E22-F6E3-E236-2110-CBCF35A25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624" y="1504926"/>
            <a:ext cx="4146468" cy="224498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99A94BA-17C6-FE74-A357-391D63F39210}"/>
              </a:ext>
            </a:extLst>
          </p:cNvPr>
          <p:cNvSpPr txBox="1"/>
          <p:nvPr/>
        </p:nvSpPr>
        <p:spPr>
          <a:xfrm>
            <a:off x="3659579" y="6126399"/>
            <a:ext cx="4974336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850" b="1" dirty="0">
                <a:solidFill>
                  <a:srgbClr val="8B9DB1"/>
                </a:solidFill>
                <a:latin typeface="Aptos"/>
              </a:rPr>
              <a:t>Milan</a:t>
            </a:r>
            <a:r>
              <a:rPr sz="850" b="1" dirty="0">
                <a:solidFill>
                  <a:srgbClr val="8B9DB1"/>
                </a:solidFill>
                <a:latin typeface="Aptos"/>
              </a:rPr>
              <a:t> map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20C1912-F52E-E68A-2FC3-26706F918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168" y="4031241"/>
            <a:ext cx="4146468" cy="21206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09 /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7893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Move from alert to evidence</a:t>
            </a:r>
            <a:endParaRPr lang="en-US"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1908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0" dirty="0">
                <a:solidFill>
                  <a:schemeClr val="bg1"/>
                </a:solidFill>
                <a:latin typeface="Aptos"/>
              </a:rPr>
              <a:t>The investigation experience connects the alert record to historical context and comparative evidence.</a:t>
            </a:r>
            <a:endParaRPr lang="en-US" sz="11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285231"/>
            <a:ext cx="4974336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Alert Investigation / Detail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285231"/>
            <a:ext cx="4974336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Analytics / additional operational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25312"/>
            <a:ext cx="109728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000" b="1">
                <a:solidFill>
                  <a:srgbClr val="39D98A"/>
                </a:solidFill>
                <a:latin typeface="Consolas"/>
              </a:rPr>
              <a:t>Signal → context → evidence → next action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55E7E4-4832-7C08-3B6F-85BF80EE6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12" y="2263807"/>
            <a:ext cx="5145975" cy="27955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B8722BF-933D-1C39-BF19-7745A0A1B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68681"/>
            <a:ext cx="5383481" cy="27857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10 / COMPARATIVE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7893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Compare patterns, not just values</a:t>
            </a:r>
            <a:endParaRPr lang="en-US"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Historical and side-by-side views help distinguish isolated spikes from persistent or structural differences.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303" y="5898789"/>
            <a:ext cx="4974336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Compare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965960"/>
            <a:ext cx="47548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DECISION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395728"/>
            <a:ext cx="4572000" cy="11126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1" dirty="0">
                <a:solidFill>
                  <a:schemeClr val="bg1"/>
                </a:solidFill>
                <a:latin typeface="Aptos"/>
              </a:rPr>
              <a:t>▸ </a:t>
            </a:r>
            <a:r>
              <a:rPr sz="1200" dirty="0">
                <a:solidFill>
                  <a:schemeClr val="bg1"/>
                </a:solidFill>
                <a:latin typeface="Aptos"/>
              </a:rPr>
              <a:t>Is Grid A behaving differently from Grid B?</a:t>
            </a:r>
            <a:endParaRPr lang="en-US" sz="1200" dirty="0">
              <a:solidFill>
                <a:schemeClr val="bg1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chemeClr val="bg1"/>
                </a:solidFill>
                <a:latin typeface="Aptos"/>
              </a:rPr>
              <a:t>▸ </a:t>
            </a:r>
            <a:r>
              <a:rPr sz="1200" dirty="0">
                <a:solidFill>
                  <a:schemeClr val="bg1"/>
                </a:solidFill>
                <a:latin typeface="Aptos"/>
              </a:rPr>
              <a:t>Is the change persistent across time?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chemeClr val="bg1"/>
                </a:solidFill>
                <a:latin typeface="Aptos"/>
              </a:rPr>
              <a:t>▸ </a:t>
            </a:r>
            <a:r>
              <a:rPr sz="1200" dirty="0">
                <a:solidFill>
                  <a:schemeClr val="bg1"/>
                </a:solidFill>
                <a:latin typeface="Aptos"/>
              </a:rPr>
              <a:t>Is the peak expected for this hour?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chemeClr val="bg1"/>
                </a:solidFill>
                <a:latin typeface="Aptos"/>
              </a:rPr>
              <a:t>▸ </a:t>
            </a:r>
            <a:r>
              <a:rPr sz="1200" dirty="0">
                <a:solidFill>
                  <a:schemeClr val="bg1"/>
                </a:solidFill>
                <a:latin typeface="Aptos"/>
              </a:rPr>
              <a:t>Does the operational signal agree with the ML risk signal?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3FFC1D9-DB84-96D4-2E6F-348584AA0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49" y="1820884"/>
            <a:ext cx="4941738" cy="37110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447EF29-F7A3-A40F-E5F1-F6B3C4C9A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305" y="3684135"/>
            <a:ext cx="5816559" cy="18450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11 / PREDICTIVE + DATA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7893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Prediction is only useful when the evidence is healthy</a:t>
            </a:r>
            <a:endParaRPr lang="en-US"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1908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0" dirty="0">
                <a:solidFill>
                  <a:schemeClr val="bg1"/>
                </a:solidFill>
                <a:latin typeface="Aptos"/>
              </a:rPr>
              <a:t>Risk intelligence and pipeline health sit next to each other to make the operational context explicit.</a:t>
            </a:r>
            <a:endParaRPr lang="en-US" sz="11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819621"/>
            <a:ext cx="4974336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Predictive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0904" y="5552426"/>
            <a:ext cx="4974336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Pipeline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256" y="6321156"/>
            <a:ext cx="10972800" cy="1631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ML output = future risk signal    •    Pipeline health = confidence in the evidence feeding the signal</a:t>
            </a:r>
            <a:endParaRPr lang="en-US" sz="900" b="1" dirty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29CD78-211E-AF2F-2123-E5DF4C3DE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12" y="1504209"/>
            <a:ext cx="4827822" cy="42454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2951FC5-3230-4BE4-8267-EE88AA380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321" y="2018804"/>
            <a:ext cx="5612113" cy="32261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13 /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9665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From a signal to an evidence-backed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The added workflows connect the existing screens into one investigation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230368" cy="178308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34747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FF6B72"/>
                </a:solidFill>
                <a:latin typeface="Consolas"/>
              </a:rPr>
              <a:t>ALERT INVESTIGATION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4688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Aptos"/>
              </a:rPr>
              <a:t>What happened?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88920"/>
            <a:ext cx="640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825496"/>
            <a:ext cx="6400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Alert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36192" y="2788920"/>
            <a:ext cx="640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36192" y="2825496"/>
            <a:ext cx="6400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Grid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9424" y="2788920"/>
            <a:ext cx="786384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49424" y="2825496"/>
            <a:ext cx="786384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2788920"/>
            <a:ext cx="123444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8960" y="2825496"/>
            <a:ext cx="123444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Recent activity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737360"/>
            <a:ext cx="5230368" cy="178308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938528"/>
            <a:ext cx="34747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COMPARE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40280"/>
            <a:ext cx="24688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Aptos"/>
              </a:rPr>
              <a:t>How different is it?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788920"/>
            <a:ext cx="658368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2825496"/>
            <a:ext cx="65836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Grid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2788920"/>
            <a:ext cx="658368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86600" y="2825496"/>
            <a:ext cx="65836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Grid 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2788920"/>
            <a:ext cx="722376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18120" y="2825496"/>
            <a:ext cx="722376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13648" y="2788920"/>
            <a:ext cx="722376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13648" y="2825496"/>
            <a:ext cx="722376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Pattern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794760"/>
            <a:ext cx="5230368" cy="178308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3995928"/>
            <a:ext cx="34747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HISTORICAL TREND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297680"/>
            <a:ext cx="24688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Aptos"/>
              </a:rPr>
              <a:t>Is it persistent?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46320"/>
            <a:ext cx="658368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882896"/>
            <a:ext cx="65836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Date 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54480" y="4846320"/>
            <a:ext cx="658368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54480" y="4882896"/>
            <a:ext cx="65836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Date 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0" y="4846320"/>
            <a:ext cx="1042416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86000" y="4882896"/>
            <a:ext cx="1042416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Hourly trend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01568" y="4846320"/>
            <a:ext cx="722376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01568" y="4882896"/>
            <a:ext cx="722376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Context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794760"/>
            <a:ext cx="5230368" cy="178308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5080" y="3995928"/>
            <a:ext cx="34747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RISK → 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297680"/>
            <a:ext cx="24688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Aptos"/>
              </a:rPr>
              <a:t>Why investigate?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4846320"/>
            <a:ext cx="640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80" y="4882896"/>
            <a:ext cx="6400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Risk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68312" y="4846320"/>
            <a:ext cx="850392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68312" y="4882896"/>
            <a:ext cx="850392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ML inputs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91856" y="4846320"/>
            <a:ext cx="786384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91856" y="4882896"/>
            <a:ext cx="786384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Activity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51392" y="4846320"/>
            <a:ext cx="123444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51392" y="4882896"/>
            <a:ext cx="123444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Related context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5897880"/>
            <a:ext cx="10972800" cy="41148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2960" y="5998464"/>
            <a:ext cx="105156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19" b="1">
                <a:solidFill>
                  <a:srgbClr val="E7EDF3"/>
                </a:solidFill>
                <a:latin typeface="Aptos"/>
              </a:rPr>
              <a:t>These workflows reuse the same grid, activity, alert and risk evidence — they do not create parallel analytics logic.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14 /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A practical stack chosen for reproducibility, clear contracts and incremental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2103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04288"/>
            <a:ext cx="21031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Python
CSV + GeoJSON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73736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57016" y="1938528"/>
            <a:ext cx="2103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DISTRIBUTED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2304288"/>
            <a:ext cx="21031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PySpark
ETL + enrichment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173736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18504" y="1938528"/>
            <a:ext cx="2103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304288"/>
            <a:ext cx="21031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Parquet
Analytics warehouse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78824" y="173736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79992" y="1938528"/>
            <a:ext cx="2103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304288"/>
            <a:ext cx="21031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Airflow
Pipeline reliability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0332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904487"/>
            <a:ext cx="2103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270248"/>
            <a:ext cx="21031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FastAPI
REST contracts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55848" y="370332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57016" y="3904487"/>
            <a:ext cx="2103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7016" y="4270248"/>
            <a:ext cx="21031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React + Vite
Leaflet + Recharts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17336" y="370332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18504" y="3904487"/>
            <a:ext cx="2103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4270248"/>
            <a:ext cx="21031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Scikit-learn
Decision Tree + baseline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78824" y="370332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79992" y="3904487"/>
            <a:ext cx="2103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8B9DB1"/>
                </a:solidFill>
                <a:latin typeface="Consolas"/>
              </a:rPr>
              <a:t>AI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2" y="4270248"/>
            <a:ext cx="21031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Claude / MCP
Next integration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742432"/>
            <a:ext cx="10972800" cy="475488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861304"/>
            <a:ext cx="105156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000" b="1">
                <a:solidFill>
                  <a:srgbClr val="39D98A"/>
                </a:solidFill>
                <a:latin typeface="Aptos"/>
              </a:rPr>
              <a:t>Engineering principle: compute once upstream, expose through contracts, reuse downstream.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16 / NEXT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Claude as the NOC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The remaining integration layer should reason over evidence, not replace the analytics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074920" cy="42519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389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WHAT CLAUDE WILL RECEIVE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43891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Selected alert and grid context</a:t>
            </a:r>
          </a:p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Current activity + baseline</a:t>
            </a:r>
          </a:p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Historical / comparison evidence</a:t>
            </a:r>
          </a:p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Predictive risk result + model version</a:t>
            </a:r>
          </a:p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Pipeline / data health state</a:t>
            </a:r>
          </a:p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Relevant tool and MCP outputs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37360"/>
            <a:ext cx="5577840" cy="42519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2011680"/>
            <a:ext cx="48463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EXAMPLE NOC QUESTIONS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2432304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395728"/>
            <a:ext cx="4526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“Explain this alert.”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2935224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898648"/>
            <a:ext cx="4526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“Why should I investigate this grid?”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3438144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3401568"/>
            <a:ext cx="4526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“Is this condition persistent?”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3941063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904487"/>
            <a:ext cx="4526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“Compare this grid with another grid.”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4443983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4407407"/>
            <a:ext cx="4526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“What evidence supports the risk signal?”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4946903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4910327"/>
            <a:ext cx="4526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“What should I check next?”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440680"/>
            <a:ext cx="484632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19" b="1">
                <a:solidFill>
                  <a:srgbClr val="8B9DB1"/>
                </a:solidFill>
                <a:latin typeface="Aptos"/>
              </a:rPr>
              <a:t>Guardrail: Claude must state uncertainty and surface data-quality issues.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17 /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What has been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A working telecom analytics platform with an operational UI and a clear path to evidence-grounded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6583680" cy="416052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57607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57150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End-to-end data engineering pipeline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PySpark processing and Milan spatial enrichment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Analytics warehouse and reusable service contracts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FastAPI network, feature, prediction and operational endpoints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Professional React NOC dashboard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Hotspot / alert spatial operations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ML-based predictive risk + anomaly intelligence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Historical, comparison and investigation workflows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Pipeline/data operations visibility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737360"/>
            <a:ext cx="4114800" cy="416052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6679" y="2011680"/>
            <a:ext cx="34747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450592"/>
            <a:ext cx="3200400" cy="6583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100" b="1">
                <a:solidFill>
                  <a:srgbClr val="E7EDF3"/>
                </a:solidFill>
                <a:latin typeface="Aptos"/>
              </a:rPr>
              <a:t>Claude-powered
NOC investigation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337560"/>
            <a:ext cx="3154680" cy="7315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Evidence-grounded reasoning across alerts, grids, risk and pipeline health.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4590288"/>
            <a:ext cx="713232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26679" y="4626864"/>
            <a:ext cx="713232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4F8CFF"/>
                </a:solidFill>
                <a:latin typeface="Consolas"/>
              </a:rPr>
              <a:t>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4590288"/>
            <a:ext cx="713232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4626864"/>
            <a:ext cx="713232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4F8CFF"/>
                </a:solidFill>
                <a:latin typeface="Consolas"/>
              </a:rPr>
              <a:t>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4590288"/>
            <a:ext cx="804672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4626864"/>
            <a:ext cx="804672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39D98A"/>
                </a:solidFill>
                <a:latin typeface="Consolas"/>
              </a:rPr>
              <a:t>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74920"/>
            <a:ext cx="315468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1">
                <a:solidFill>
                  <a:srgbClr val="E7EDF3"/>
                </a:solidFill>
                <a:latin typeface="Aptos"/>
              </a:rPr>
              <a:t>Goal: faster investigation with the same evidence and safety boundaries.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Dark gradient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Dark gradien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6C0E157E-BBF9-45FB-91B2-9EEA263F6260}" vid="{4AA688F4-4384-4824-9BC0-914EFB7BEE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254</cp:revision>
  <dcterms:created xsi:type="dcterms:W3CDTF">2013-01-27T09:14:16Z</dcterms:created>
  <dcterms:modified xsi:type="dcterms:W3CDTF">2026-09-17T06:54:47Z</dcterms:modified>
  <cp:category/>
</cp:coreProperties>
</file>